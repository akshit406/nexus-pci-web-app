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475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775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779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658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422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7245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045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2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9600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7046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878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78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0C23C-64EE-4E44-B512-551CBDEC3C69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3F439-674E-4E03-B97F-295447FD144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775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philipp-lutz.net/wp-content/uploads/P418012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4646"/>
          <a:stretch/>
        </p:blipFill>
        <p:spPr bwMode="auto">
          <a:xfrm>
            <a:off x="0" y="0"/>
            <a:ext cx="12192000" cy="23183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0" y="0"/>
            <a:ext cx="12192000" cy="2309091"/>
          </a:xfrm>
          <a:prstGeom prst="rect">
            <a:avLst/>
          </a:prstGeom>
          <a:solidFill>
            <a:srgbClr val="112B43">
              <a:alpha val="6117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6" name="Picture 2" descr="http://philipp-lutz.net/wp-content/uploads/P418012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5" t="93188" r="125" b="145"/>
          <a:stretch/>
        </p:blipFill>
        <p:spPr bwMode="auto">
          <a:xfrm>
            <a:off x="0" y="6248400"/>
            <a:ext cx="12192000" cy="609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112B43">
              <a:alpha val="6117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CuadroTexto 8"/>
          <p:cNvSpPr txBox="1"/>
          <p:nvPr/>
        </p:nvSpPr>
        <p:spPr>
          <a:xfrm>
            <a:off x="402390" y="615936"/>
            <a:ext cx="101741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err="1" smtClean="0">
                <a:solidFill>
                  <a:schemeClr val="bg1"/>
                </a:solidFill>
                <a:latin typeface="AR Techni" panose="02000500000000000000" pitchFamily="2" charset="0"/>
              </a:rPr>
              <a:t>Certificate</a:t>
            </a:r>
            <a:r>
              <a:rPr lang="es-ES" sz="4800" b="1" dirty="0" smtClean="0">
                <a:solidFill>
                  <a:schemeClr val="bg1"/>
                </a:solidFill>
                <a:latin typeface="AR Techni" panose="02000500000000000000" pitchFamily="2" charset="0"/>
              </a:rPr>
              <a:t> of PCI DSS </a:t>
            </a:r>
            <a:r>
              <a:rPr lang="es-ES" sz="4800" b="1" dirty="0" err="1" smtClean="0">
                <a:solidFill>
                  <a:schemeClr val="bg1"/>
                </a:solidFill>
                <a:latin typeface="AR Techni" panose="02000500000000000000" pitchFamily="2" charset="0"/>
              </a:rPr>
              <a:t>compliance</a:t>
            </a:r>
            <a:r>
              <a:rPr lang="es-ES" sz="3200" dirty="0">
                <a:solidFill>
                  <a:schemeClr val="bg1"/>
                </a:solidFill>
              </a:rPr>
              <a:t/>
            </a:r>
            <a:br>
              <a:rPr lang="es-ES" sz="3200" dirty="0">
                <a:solidFill>
                  <a:schemeClr val="bg1"/>
                </a:solidFill>
              </a:rPr>
            </a:br>
            <a:r>
              <a:rPr lang="es-ES" sz="3200" dirty="0" smtClean="0">
                <a:solidFill>
                  <a:schemeClr val="bg1"/>
                </a:solidFill>
                <a:latin typeface="AR Techni" panose="02000500000000000000" pitchFamily="2" charset="0"/>
              </a:rPr>
              <a:t>SAQ/AOC V4.0.1</a:t>
            </a:r>
            <a:endParaRPr lang="es-MX" sz="3200" dirty="0">
              <a:solidFill>
                <a:schemeClr val="bg1"/>
              </a:solidFill>
              <a:latin typeface="AR Techni" panose="02000500000000000000" pitchFamily="2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316480" y="32461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27131" y="2637793"/>
            <a:ext cx="6935669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ES" sz="1200" dirty="0" smtClean="0"/>
              <a:t>&lt;&lt;empresa&gt;&gt; </a:t>
            </a:r>
            <a:r>
              <a:rPr lang="es-ES" sz="1200" dirty="0" smtClean="0"/>
              <a:t>cumple </a:t>
            </a:r>
            <a:r>
              <a:rPr lang="es-ES" sz="1200" dirty="0" smtClean="0"/>
              <a:t>con los requisitos establecidos por el estándar PCI DSS, conforme a la evaluación realizada sobre las evidencias, controles, políticas y tecnologías que integran su entorno de datos de tarjetas de crédito.</a:t>
            </a:r>
            <a:br>
              <a:rPr lang="es-ES" sz="1200" dirty="0" smtClean="0"/>
            </a:br>
            <a:endParaRPr lang="es-ES" sz="1200" dirty="0" smtClean="0"/>
          </a:p>
          <a:p>
            <a:r>
              <a:rPr lang="es-ES" sz="1200" dirty="0" smtClean="0"/>
              <a:t>Los resultados de esta revisión están debidamente documentados en el </a:t>
            </a:r>
            <a:r>
              <a:rPr lang="es-ES" sz="1200" i="1" dirty="0" err="1" smtClean="0"/>
              <a:t>Self-Assessment</a:t>
            </a:r>
            <a:r>
              <a:rPr lang="es-ES" sz="1200" i="1" dirty="0" smtClean="0"/>
              <a:t> </a:t>
            </a:r>
            <a:r>
              <a:rPr lang="es-ES" sz="1200" i="1" dirty="0" err="1" smtClean="0"/>
              <a:t>Questionnaire</a:t>
            </a:r>
            <a:r>
              <a:rPr lang="es-ES" sz="1200" dirty="0" smtClean="0"/>
              <a:t> (SAQ) y el </a:t>
            </a:r>
            <a:r>
              <a:rPr lang="es-ES" sz="1200" i="1" dirty="0" err="1" smtClean="0"/>
              <a:t>Attestation</a:t>
            </a:r>
            <a:r>
              <a:rPr lang="es-ES" sz="1200" i="1" dirty="0" smtClean="0"/>
              <a:t> of </a:t>
            </a:r>
            <a:r>
              <a:rPr lang="es-ES" sz="1200" i="1" dirty="0" err="1" smtClean="0"/>
              <a:t>Compliance</a:t>
            </a:r>
            <a:r>
              <a:rPr lang="es-ES" sz="1200" dirty="0" smtClean="0"/>
              <a:t> (AOC), documentos que tienen una vigencia de un año, con inicio el </a:t>
            </a:r>
            <a:r>
              <a:rPr lang="es-ES" sz="1200" dirty="0" smtClean="0"/>
              <a:t>&lt;&lt;fecha de certificación&gt;&gt; </a:t>
            </a:r>
            <a:r>
              <a:rPr lang="es-ES" sz="1200" dirty="0" smtClean="0"/>
              <a:t>y conclusión el </a:t>
            </a:r>
            <a:r>
              <a:rPr lang="es-ES" sz="1200" dirty="0" smtClean="0"/>
              <a:t>&lt;&lt;fecha de conclusión&gt;&gt;, </a:t>
            </a:r>
            <a:r>
              <a:rPr lang="es-ES" sz="1200" dirty="0" smtClean="0"/>
              <a:t>de acuerdo con las políticas del PCI Security </a:t>
            </a:r>
            <a:r>
              <a:rPr lang="es-ES" sz="1200" dirty="0" err="1" smtClean="0"/>
              <a:t>Standards</a:t>
            </a:r>
            <a:r>
              <a:rPr lang="es-ES" sz="1200" dirty="0" smtClean="0"/>
              <a:t> Council para la validación y mantenimiento del cumplimiento.</a:t>
            </a:r>
          </a:p>
          <a:p>
            <a:r>
              <a:rPr lang="es-ES" sz="1200" dirty="0" smtClean="0"/>
              <a:t/>
            </a:r>
            <a:br>
              <a:rPr lang="es-ES" sz="1200" dirty="0" smtClean="0"/>
            </a:br>
            <a:r>
              <a:rPr lang="es-ES" sz="1200" dirty="0" smtClean="0"/>
              <a:t>Este certificado es de carácter informativo y refleja el estado actual de cumplimiento de la organización con el estándar PCI DSS. No obstante, los únicos documentos oficiales reconocidos por el PCI Security </a:t>
            </a:r>
            <a:r>
              <a:rPr lang="es-ES" sz="1200" dirty="0" err="1" smtClean="0"/>
              <a:t>Standards</a:t>
            </a:r>
            <a:r>
              <a:rPr lang="es-ES" sz="1200" dirty="0" smtClean="0"/>
              <a:t> Council son el SAQ y el AOC emitidos en sus formatos oficiales. En caso de requerirse evidencia formal, dichos documentos deberán presentarse como respaldo.</a:t>
            </a:r>
          </a:p>
          <a:p>
            <a:r>
              <a:rPr lang="es-ES" sz="1200" b="1" dirty="0" smtClean="0"/>
              <a:t/>
            </a:r>
            <a:br>
              <a:rPr lang="es-ES" sz="1200" b="1" dirty="0" smtClean="0"/>
            </a:br>
            <a:r>
              <a:rPr lang="es-ES" sz="1200" b="1" dirty="0" smtClean="0"/>
              <a:t>PCI </a:t>
            </a:r>
            <a:r>
              <a:rPr lang="es-ES" sz="1200" b="1" dirty="0" err="1" smtClean="0"/>
              <a:t>Nexus</a:t>
            </a:r>
            <a:r>
              <a:rPr lang="es-ES" sz="1200" b="1" dirty="0" smtClean="0"/>
              <a:t> </a:t>
            </a:r>
            <a:r>
              <a:rPr lang="es-ES" sz="1200" dirty="0" smtClean="0"/>
              <a:t>no </a:t>
            </a:r>
            <a:r>
              <a:rPr lang="es-ES" sz="1200" dirty="0" smtClean="0"/>
              <a:t>asume responsabilidad alguna frente a terceros en caso de pérdida, daño o afectación de cualquier tipo derivada de fallas, brechas o vulneraciones en los sistemas de seguridad de la entidad.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MX" sz="1200" dirty="0" smtClean="0">
              <a:latin typeface="Arial" panose="020B0604020202020204" pitchFamily="34" charset="0"/>
            </a:endParaRPr>
          </a:p>
        </p:txBody>
      </p:sp>
      <p:grpSp>
        <p:nvGrpSpPr>
          <p:cNvPr id="18" name="Grupo 17"/>
          <p:cNvGrpSpPr/>
          <p:nvPr/>
        </p:nvGrpSpPr>
        <p:grpSpPr>
          <a:xfrm>
            <a:off x="7471874" y="2778751"/>
            <a:ext cx="4720126" cy="3009224"/>
            <a:chOff x="6623608" y="2418784"/>
            <a:chExt cx="5739974" cy="3659408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EAF01EEC-189B-4619-851B-FF2C6FCA47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81608" y="2418784"/>
              <a:ext cx="4281974" cy="3659408"/>
            </a:xfrm>
            <a:prstGeom prst="rect">
              <a:avLst/>
            </a:prstGeom>
            <a:effectLst>
              <a:softEdge rad="635000"/>
            </a:effectLst>
          </p:spPr>
        </p:pic>
        <p:pic>
          <p:nvPicPr>
            <p:cNvPr id="17" name="Imagen 16" descr="Imagen que contiene edificio, accesorios metálicos, bloquear&#10;&#10;Descripción generada con confianza alta">
              <a:extLst>
                <a:ext uri="{FF2B5EF4-FFF2-40B4-BE49-F238E27FC236}">
                  <a16:creationId xmlns:a16="http://schemas.microsoft.com/office/drawing/2014/main" id="{4E1CE804-1586-4F1C-8F90-EDDE52827C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623608" y="2762957"/>
              <a:ext cx="3598987" cy="2971062"/>
            </a:xfrm>
            <a:prstGeom prst="rect">
              <a:avLst/>
            </a:prstGeom>
            <a:effectLst>
              <a:softEdge rad="635000"/>
            </a:effectLst>
          </p:spPr>
        </p:pic>
      </p:grp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0" t="30258" r="25656" b="44811"/>
          <a:stretch/>
        </p:blipFill>
        <p:spPr>
          <a:xfrm>
            <a:off x="10141766" y="772014"/>
            <a:ext cx="1904686" cy="64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4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10222</TotalTime>
  <Words>44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 Techni</vt:lpstr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Federico Arenas</dc:creator>
  <cp:lastModifiedBy>Federico Arenas</cp:lastModifiedBy>
  <cp:revision>14</cp:revision>
  <dcterms:created xsi:type="dcterms:W3CDTF">2025-04-30T21:56:56Z</dcterms:created>
  <dcterms:modified xsi:type="dcterms:W3CDTF">2026-05-26T06:31:31Z</dcterms:modified>
</cp:coreProperties>
</file>